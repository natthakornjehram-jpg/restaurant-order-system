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5.png"/><Relationship Id="rId7" Type="http://schemas.openxmlformats.org/officeDocument/2006/relationships/image" Target="../media/image-11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5D403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5D4037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685800"/>
            <a:ext cx="1371600" cy="137160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5" name="Image 0" descr="C:\Users\ncear\AppData\Local\Temp\claude\C--xampp-htdocs-664244102-restaurant-restaurant-restaurant\84b163e6-f8a2-4c79-86b6-e8584e2b90e4\scratchpad\pptx\icons\FaQrcode_3E27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5530" y="99441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โครงงาน / งานวิจัย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ระบบสั่งอาหารร้านอาหารด้วย QR Code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และระบบจัดการหลังร้าน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Restaurant Ordering &amp; Back-Office Management System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22960" y="4434840"/>
            <a:ext cx="3840480" cy="0"/>
          </a:xfrm>
          <a:prstGeom prst="line">
            <a:avLst/>
          </a:prstGeom>
          <a:noFill/>
          <a:ln w="12700">
            <a:solidFill>
              <a:srgbClr val="5D403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61772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จัดทำโดย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Natthakorn Jehram   |   รหัสนักศึกษา 664244102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รายวิชา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................................................
</a:t>
            </a:r>
            <a:pPr indent="0" marL="0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อาจารย์ที่ปรึกษา  </a:t>
            </a:r>
            <a:pPr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................................................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ความเป็นมาและความสำคัญของปัญหา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ปัญหาที่ร้านอาหารทั่วไปมักพบเมื่อยังใช้วิธีจดออเดอร์และจัดการหลังร้านแบบดั้งเดิม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6" name="Image 0" descr="C:\Users\ncear\AppData\Local\Temp\claude\C--xampp-htdocs-664244102-restaurant-restaurant-restaurant\84b163e6-f8a2-4c79-86b6-e8584e2b90e4\scratchpad\pptx\icons\FaExclamationTriang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20610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ความผิดพลาดจากการจดออเดอร์ด้วยมือ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25856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พนักงานจดผิด เขียนอ่านไม่ออก ทำให้ลูกค้าได้รับอาหารไม่ตรงตามที่สั่ง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953512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0" name="Image 1" descr="C:\Users\ncear\AppData\Local\Temp\claude\C--xampp-htdocs-664244102-restaurant-restaurant-restaurant\84b163e6-f8a2-4c79-86b6-e8584e2b90e4\scratchpad\pptx\icons\Fa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140050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93522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เสียเวลารอพนักงานมารับออเดอร์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554480" y="333756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โดยเฉพาะช่วงลูกค้าหนาแน่น ทำให้การบริการล่าช้าและลูกค้าไม่พอใจ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032504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4" name="Image 2" descr="C:\Users\ncear\AppData\Local\Temp\claude\C--xampp-htdocs-664244102-restaurant-restaurant-restaurant\84b163e6-f8a2-4c79-86b6-e8584e2b90e4\scratchpad\pptx\icons\FaChartLi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219042"/>
            <a:ext cx="404165" cy="40416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54480" y="40142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มองไม่เห็นยอดขายและสต็อกแบบเรียลไทม์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54480" y="441655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เจ้าของร้านต้องสรุปยอดขายเองตอนปิดร้าน และไม่รู้ว่าวัตถุดิบใกล้หมดจนลูกค้าสั่งไปแล้ว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5111496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8" name="Image 3" descr="C:\Users\ncear\AppData\Local\Temp\claude\C--xampp-htdocs-664244102-restaurant-restaurant-restaurant\84b163e6-f8a2-4c79-86b6-e8584e2b90e4\scratchpad\pptx\icons\FaLayerGroup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178" y="5298034"/>
            <a:ext cx="404165" cy="40416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509320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ไม่มีระบบรองรับทั้ง 2 ช่องทางในที่เดียว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554480" y="549554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ทานที่ร้านและสั่งกลับบ้านต้องแยกจัดการคนละระบบ เพิ่มภาระงานให้พนักงาน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วัตถุประสงค์ของโครงงาน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FEBE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6" name="Image 0" descr="C:\Users\ncear\AppData\Local\Temp\claude\C--xampp-htdocs-664244102-restaurant-restaurant-restaurant\84b163e6-f8a2-4c79-86b6-e8584e2b90e4\scratchpad\pptx\icons\FaQr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64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ระบบสั่งอาหารผ่าน QR Code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พัฒนาระบบสั่งอาหารสำหรับลูกค้าที่ทานที่ร้าน โดยสแกน QR Code ที่โต๊ะ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80760" y="150876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FEBE9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783080"/>
            <a:ext cx="685800" cy="68580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1" name="Image 1" descr="C:\Users\ncear\AppData\Local\Temp\claude\C--xampp-htdocs-664244102-restaurant-restaurant-restaurant\84b163e6-f8a2-4c79-86b6-e8584e2b90e4\scratchpad\pptx\icons\FaShoppingBag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672" y="19476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6479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ระบบสั่งอาหารออนไลน์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355080" y="256032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พัฒนาระบบสั่งอาหารสำหรับลูกค้าที่ต้องการสั่งกลับบ้านผ่านลิงก์เมนู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FEBE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23360"/>
            <a:ext cx="685800" cy="68580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6" name="Image 2" descr="C:\Users\ncear\AppData\Local\Temp\claude\C--xampp-htdocs-664244102-restaurant-restaurant-restaurant\84b163e6-f8a2-4c79-86b6-e8584e2b90e4\scratchpad\pptx\icons\FaClipboardLis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1879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ระบบจัดการหลังร้าน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22960" y="48006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พัฒนาแดชบอร์ดจัดการออเดอร์ การชำระเงิน คลังสินค้า และรายงานยอดขาย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080760" y="374904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EFEBE9"/>
          </a:solidFill>
          <a:ln/>
        </p:spPr>
      </p:sp>
      <p:sp>
        <p:nvSpPr>
          <p:cNvPr id="20" name="Shape 15"/>
          <p:cNvSpPr/>
          <p:nvPr/>
        </p:nvSpPr>
        <p:spPr>
          <a:xfrm>
            <a:off x="6355080" y="4023360"/>
            <a:ext cx="685800" cy="68580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1" name="Image 3" descr="C:\Users\ncear\AppData\Local\Temp\claude\C--xampp-htdocs-664244102-restaurant-restaurant-restaurant\84b163e6-f8a2-4c79-86b6-e8584e2b90e4\scratchpad\pptx\icons\FaBo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418795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4005072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ลดข้อผิดพลาดและเพิ่มความเร็ว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6355080" y="480060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ลดความผิดพลาดจากการจดออเดอร์ด้วยมือ และเพิ่มความรวดเร็วในการให้บริการ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ขอบเขตของระบบ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5D403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สิ่งที่ระบบทำได้</a:t>
            </a:r>
            <a:endParaRPr lang="en-US" sz="1800" dirty="0"/>
          </a:p>
        </p:txBody>
      </p:sp>
      <p:pic>
        <p:nvPicPr>
          <p:cNvPr id="6" name="Image 0" descr="C:\Users\ncear\AppData\Local\Temp\claude\C--xampp-htdocs-664244102-restaurant-restaurant-restaurant\84b163e6-f8a2-4c79-86b6-e8584e2b90e4\scratchpad\pptx\icons\FaCheckCircle_F5B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042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2128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สั่งอาหารผ่าน QR Code (ทานที่ร้าน) และลิงก์ออนไลน์ (กลับบ้าน)</a:t>
            </a:r>
            <a:endParaRPr lang="en-US" sz="1250" dirty="0"/>
          </a:p>
        </p:txBody>
      </p:sp>
      <p:pic>
        <p:nvPicPr>
          <p:cNvPr id="8" name="Image 1" descr="C:\Users\ncear\AppData\Local\Temp\claude\C--xampp-htdocs-664244102-restaurant-restaurant-restaurant\84b163e6-f8a2-4c79-86b6-e8584e2b90e4\scratchpad\pptx\icons\FaCheckCircle_F5B3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9008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898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จัดการเมนู หมวดหมู่ ท็อปปิ้ง และคลังสินค้า</a:t>
            </a:r>
            <a:endParaRPr lang="en-US" sz="1250" dirty="0"/>
          </a:p>
        </p:txBody>
      </p:sp>
      <p:pic>
        <p:nvPicPr>
          <p:cNvPr id="10" name="Image 2" descr="C:\Users\ncear\AppData\Local\Temp\claude\C--xampp-htdocs-664244102-restaurant-restaurant-restaurant\84b163e6-f8a2-4c79-86b6-e8584e2b90e4\scratchpad\pptx\icons\FaCheckCircle_F5B3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67588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8720" y="35844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จัดการโต๊ะอาหาร พร้อมสร้าง QR Code ต่อโต๊ะอัตโนมัติ</a:t>
            </a:r>
            <a:endParaRPr lang="en-US" sz="1250" dirty="0"/>
          </a:p>
        </p:txBody>
      </p:sp>
      <p:pic>
        <p:nvPicPr>
          <p:cNvPr id="12" name="Image 3" descr="C:\Users\ncear\AppData\Local\Temp\claude\C--xampp-htdocs-664244102-restaurant-restaurant-restaurant\84b163e6-f8a2-4c79-86b6-e8584e2b90e4\scratchpad\pptx\icons\FaCheckCircle_F5B3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361688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42702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อนุมัติการชำระเงิน และออกรายงานยอดขายรายวัน</a:t>
            </a:r>
            <a:endParaRPr lang="en-US" sz="1250" dirty="0"/>
          </a:p>
        </p:txBody>
      </p:sp>
      <p:pic>
        <p:nvPicPr>
          <p:cNvPr id="14" name="Image 4" descr="C:\Users\ncear\AppData\Local\Temp\claude\C--xampp-htdocs-664244102-restaurant-restaurant-restaurant\84b163e6-f8a2-4c79-86b6-e8584e2b90e4\scratchpad\pptx\icons\FaCheckCircle_F5B3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47488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8720" y="49560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ระบบความปลอดภัย: CSRF, กัน brute-force, ยืนยัน OTP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6126480" y="150876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EFEBE9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446520" y="1737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27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สิ่งที่ไม่รวมอยู่ในขอบเขต</a:t>
            </a:r>
            <a:endParaRPr lang="en-US" sz="1800" dirty="0"/>
          </a:p>
        </p:txBody>
      </p:sp>
      <p:sp>
        <p:nvSpPr>
          <p:cNvPr id="18" name="Shape 11"/>
          <p:cNvSpPr/>
          <p:nvPr/>
        </p:nvSpPr>
        <p:spPr>
          <a:xfrm>
            <a:off x="6446520" y="2313432"/>
            <a:ext cx="201168" cy="201168"/>
          </a:xfrm>
          <a:prstGeom prst="ellipse">
            <a:avLst/>
          </a:prstGeom>
          <a:solidFill>
            <a:srgbClr val="8D6E63"/>
          </a:solidFill>
          <a:ln/>
        </p:spPr>
      </p:sp>
      <p:sp>
        <p:nvSpPr>
          <p:cNvPr id="19" name="Text 12"/>
          <p:cNvSpPr/>
          <p:nvPr/>
        </p:nvSpPr>
        <p:spPr>
          <a:xfrm>
            <a:off x="6766560" y="221284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ระบบสมาชิก / บัญชีผู้ใช้สำหรับลูกค้า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446520" y="3090672"/>
            <a:ext cx="201168" cy="201168"/>
          </a:xfrm>
          <a:prstGeom prst="ellipse">
            <a:avLst/>
          </a:prstGeom>
          <a:solidFill>
            <a:srgbClr val="8D6E63"/>
          </a:solidFill>
          <a:ln/>
        </p:spPr>
      </p:sp>
      <p:sp>
        <p:nvSpPr>
          <p:cNvPr id="21" name="Text 14"/>
          <p:cNvSpPr/>
          <p:nvPr/>
        </p:nvSpPr>
        <p:spPr>
          <a:xfrm>
            <a:off x="6766560" y="299008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ระบบจัดส่งเดลิเวอรี่</a:t>
            </a:r>
            <a:endParaRPr lang="en-US" sz="1250" dirty="0"/>
          </a:p>
        </p:txBody>
      </p:sp>
      <p:sp>
        <p:nvSpPr>
          <p:cNvPr id="22" name="Shape 15"/>
          <p:cNvSpPr/>
          <p:nvPr/>
        </p:nvSpPr>
        <p:spPr>
          <a:xfrm>
            <a:off x="6446520" y="3867912"/>
            <a:ext cx="201168" cy="201168"/>
          </a:xfrm>
          <a:prstGeom prst="ellipse">
            <a:avLst/>
          </a:prstGeom>
          <a:solidFill>
            <a:srgbClr val="8D6E63"/>
          </a:solidFill>
          <a:ln/>
        </p:spPr>
      </p:sp>
      <p:sp>
        <p:nvSpPr>
          <p:cNvPr id="23" name="Text 16"/>
          <p:cNvSpPr/>
          <p:nvPr/>
        </p:nvSpPr>
        <p:spPr>
          <a:xfrm>
            <a:off x="6766560" y="376732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การเชื่อมต่อ Payment Gateway อัตโนมัติ (ตรวจสลิปด้วยมือ)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446520" y="4645152"/>
            <a:ext cx="201168" cy="201168"/>
          </a:xfrm>
          <a:prstGeom prst="ellipse">
            <a:avLst/>
          </a:prstGeom>
          <a:solidFill>
            <a:srgbClr val="8D6E63"/>
          </a:solidFill>
          <a:ln/>
        </p:spPr>
      </p:sp>
      <p:sp>
        <p:nvSpPr>
          <p:cNvPr id="25" name="Text 18"/>
          <p:cNvSpPr/>
          <p:nvPr/>
        </p:nvSpPr>
        <p:spPr>
          <a:xfrm>
            <a:off x="6766560" y="4544568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รองรับหลายสาขา / หลายร้านค้า (multi-tenant)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เทคโนโลยีและเครื่องมือที่ใช้พัฒนา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EFEBE9"/>
          </a:solidFill>
          <a:ln/>
        </p:spPr>
      </p:sp>
      <p:sp>
        <p:nvSpPr>
          <p:cNvPr id="5" name="Shape 3"/>
          <p:cNvSpPr/>
          <p:nvPr/>
        </p:nvSpPr>
        <p:spPr>
          <a:xfrm>
            <a:off x="1920240" y="1783080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6" name="Image 0" descr="C:\Users\ncear\AppData\Local\Temp\claude\C--xampp-htdocs-664244102-restaurant-restaurant-restaurant\84b163e6-f8a2-4c79-86b6-e8584e2b90e4\scratchpad\pptx\icons\SiPh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778" y="19696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ภาษาโปรแกรมหลัก (Procedural)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554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EFEBE9"/>
          </a:solidFill>
          <a:ln/>
        </p:spPr>
      </p:sp>
      <p:sp>
        <p:nvSpPr>
          <p:cNvPr id="10" name="Shape 7"/>
          <p:cNvSpPr/>
          <p:nvPr/>
        </p:nvSpPr>
        <p:spPr>
          <a:xfrm>
            <a:off x="5669280" y="1783080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1" name="Image 1" descr="C:\Users\ncear\AppData\Local\Temp\claude\C--xampp-htdocs-664244102-restaurant-restaurant-restaurant\84b163e6-f8a2-4c79-86b6-e8584e2b90e4\scratchpad\pptx\icons\SiMysql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818" y="19696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48056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ฐานข้อมูล 16 ตาราง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5544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EFEBE9"/>
          </a:solidFill>
          <a:ln/>
        </p:spPr>
      </p:sp>
      <p:sp>
        <p:nvSpPr>
          <p:cNvPr id="15" name="Shape 11"/>
          <p:cNvSpPr/>
          <p:nvPr/>
        </p:nvSpPr>
        <p:spPr>
          <a:xfrm>
            <a:off x="9418320" y="1783080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6" name="Image 2" descr="C:\Users\ncear\AppData\Local\Temp\claude\C--xampp-htdocs-664244102-restaurant-restaurant-restaurant\84b163e6-f8a2-4c79-86b6-e8584e2b90e4\scratchpad\pptx\icons\SiBootstrap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858" y="19696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6517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 Layout หน้าเว็บ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6118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EFEBE9"/>
          </a:solidFill>
          <a:ln/>
        </p:spPr>
      </p:sp>
      <p:sp>
        <p:nvSpPr>
          <p:cNvPr id="20" name="Shape 15"/>
          <p:cNvSpPr/>
          <p:nvPr/>
        </p:nvSpPr>
        <p:spPr>
          <a:xfrm>
            <a:off x="1920240" y="3840480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1" name="Image 3" descr="C:\Users\ncear\AppData\Local\Temp\claude\C--xampp-htdocs-664244102-restaurant-restaurant-restaurant\84b163e6-f8a2-4c79-86b6-e8584e2b90e4\scratchpad\pptx\icons\SiJavascrip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778" y="40270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" y="4709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" y="5029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แบบเรียลไทม์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6118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EFEBE9"/>
          </a:solidFill>
          <a:ln/>
        </p:spPr>
      </p:sp>
      <p:sp>
        <p:nvSpPr>
          <p:cNvPr id="25" name="Shape 19"/>
          <p:cNvSpPr/>
          <p:nvPr/>
        </p:nvSpPr>
        <p:spPr>
          <a:xfrm>
            <a:off x="5669280" y="3840480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6" name="Image 4" descr="C:\Users\ncear\AppData\Local\Temp\claude\C--xampp-htdocs-664244102-restaurant-restaurant-restaurant\84b163e6-f8a2-4c79-86b6-e8584e2b90e4\scratchpad\pptx\icons\SiGi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5818" y="402701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709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480560" y="5029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ควบคุมเวอร์ชันโค้ด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6118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EFEBE9"/>
          </a:solidFill>
          <a:ln/>
        </p:spPr>
      </p:sp>
      <p:sp>
        <p:nvSpPr>
          <p:cNvPr id="30" name="Shape 23"/>
          <p:cNvSpPr/>
          <p:nvPr/>
        </p:nvSpPr>
        <p:spPr>
          <a:xfrm>
            <a:off x="9418320" y="3840480"/>
            <a:ext cx="777240" cy="77724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31" name="Image 5" descr="C:\Users\ncear\AppData\Local\Temp\claude\C--xampp-htdocs-664244102-restaurant-restaurant-restaurant\84b163e6-f8a2-4c79-86b6-e8584e2b90e4\scratchpad\pptx\icons\FaServer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4858" y="402701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7091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29600" y="5029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จำลอง Server (Apache/MySQL) ตอนพัฒนา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48640" y="562356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เพิ่มเติม: SweetAlert2 (แจ้งเตือน) · PHPMailer + Gmail SMTP (ส่ง OTP) · GSAP/anime.js (แอนิเมชัน UI)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สถาปัตยกรรมของระบบ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2377440"/>
            <a:ext cx="3017520" cy="2377440"/>
          </a:xfrm>
          <a:prstGeom prst="roundRect">
            <a:avLst>
              <a:gd name="adj" fmla="val 5385"/>
            </a:avLst>
          </a:prstGeom>
          <a:solidFill>
            <a:srgbClr val="EFEBE9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7360" y="2651760"/>
            <a:ext cx="914400" cy="91440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6" name="Image 0" descr="C:\Users\ncear\AppData\Local\Temp\claude\C--xampp-htdocs-664244102-restaurant-restaurant-restaurant\84b163e6-f8a2-4c79-86b6-e8584e2b90e4\scratchpad\pptx\icons\FaMobile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287121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0050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 QR Code /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เข้าลิงก์เมนูออนไลน์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(มือถือ/แท็บเล็ต)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2377440"/>
            <a:ext cx="3017520" cy="2377440"/>
          </a:xfrm>
          <a:prstGeom prst="roundRect">
            <a:avLst>
              <a:gd name="adj" fmla="val 5385"/>
            </a:avLst>
          </a:prstGeom>
          <a:solidFill>
            <a:srgbClr val="EFEBE9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23560" y="2651760"/>
            <a:ext cx="914400" cy="91440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1" name="Image 1" descr="C:\Users\ncear\AppData\Local\Temp\claude\C--xampp-htdocs-664244102-restaurant-restaurant-restaurant\84b163e6-f8a2-4c79-86b6-e8584e2b90e4\scratchpad\pptx\icons\Fa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87121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916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เว็บแอปพลิเคชัน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09160" y="40050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+ MySQL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ประมวลผลออเดอร์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และตัดสต็อกอัตโนมัติ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458200" y="2377440"/>
            <a:ext cx="3017520" cy="2377440"/>
          </a:xfrm>
          <a:prstGeom prst="roundRect">
            <a:avLst>
              <a:gd name="adj" fmla="val 5385"/>
            </a:avLst>
          </a:prstGeom>
          <a:solidFill>
            <a:srgbClr val="EFEBE9"/>
          </a:solidFill>
          <a:ln w="12700">
            <a:solidFill>
              <a:srgbClr val="D7CC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09760" y="2651760"/>
            <a:ext cx="914400" cy="91440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6" name="Image 2" descr="C:\Users\ncear\AppData\Local\Temp\claude\C--xampp-htdocs-664244102-restaurant-restaurant-restaurant\84b163e6-f8a2-4c79-86b6-e8584e2b90e4\scratchpad\pptx\icons\FaUserTi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16" y="287121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95360" y="3675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เจ้าของร้าน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595360" y="400507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แดชบอร์ดจัดการ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ออเดอร์ / ชำระเงิน /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รายงานยอดขาย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776472" y="3566160"/>
            <a:ext cx="722376" cy="0"/>
          </a:xfrm>
          <a:prstGeom prst="line">
            <a:avLst/>
          </a:prstGeom>
          <a:noFill/>
          <a:ln w="28575">
            <a:solidFill>
              <a:srgbClr val="5D4037"/>
            </a:solidFill>
            <a:prstDash val="solid"/>
            <a:headEnd type="triangle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662672" y="3566160"/>
            <a:ext cx="722376" cy="0"/>
          </a:xfrm>
          <a:prstGeom prst="line">
            <a:avLst/>
          </a:prstGeom>
          <a:noFill/>
          <a:ln w="28575">
            <a:solidFill>
              <a:srgbClr val="5D4037"/>
            </a:solidFill>
            <a:prstDash val="solid"/>
            <a:headEnd type="triangle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4572000" y="489204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ฐานข้อมูล: เมนู · ออเดอร์ · โต๊ะ · การชำระเงิน · ผู้ใช้ (16 ตาราง)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85800" y="55778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(ไม่มีระบบสมาชิกลูกค้า)  ·  อัปเดตสถานะแบบเกือบเรียลไทม์ด้วย JavaScript Polling ทุก 2–5 วินาที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DINE-IN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การทำงานของระบบ — ลูกค้าทานที่ร้าน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ตั้งแต่สแกน QR Code ที่โต๊ะ จนถึงชำระเงินปิดบิล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9222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7" name="Image 0" descr="C:\Users\ncear\AppData\Local\Temp\claude\C--xampp-htdocs-664244102-restaurant-restaurant-restaurant\84b163e6-f8a2-4c79-86b6-e8584e2b90e4\scratchpad\pptx\icons\FaQr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3074213"/>
            <a:ext cx="618134" cy="6181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0817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0817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สแกน QR ที่โต๊ะ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7432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ระบบตรวจโทเค็นลับกันเดาโต๊ะ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6110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1752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4" name="Image 1" descr="C:\Users\ncear\AppData\Local\Temp\claude\C--xampp-htdocs-664244102-restaurant-restaurant-restaurant\84b163e6-f8a2-4c79-86b6-e8584e2b90e4\scratchpad\pptx\icons\FaUtensil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813" y="3074213"/>
            <a:ext cx="618134" cy="61813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7705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7705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4320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เลือกเมนู/ท็อปปิ้ง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74320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ใส่ตะกร้าได้หลายรายการ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72998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48640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1" name="Image 2" descr="C:\Users\ncear\AppData\Local\Temp\claude\C--xampp-htdocs-664244102-restaurant-restaurant-restaurant\84b163e6-f8a2-4c79-86b6-e8584e2b90e4\scratchpad\pptx\icons\FaPaperPlan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93" y="3074213"/>
            <a:ext cx="618134" cy="61813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34593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4593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1208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ยืนยันส่งออเดอร์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21208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เข้าคิวครัวทันที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19886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795528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8" name="Image 3" descr="C:\Users\ncear\AppData\Local\Temp\claude\C--xampp-htdocs-664244102-restaurant-restaurant-restaurant\84b163e6-f8a2-4c79-86b6-e8584e2b90e4\scratchpad\pptx\icons\FaFir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3" y="3074213"/>
            <a:ext cx="618134" cy="61813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81481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81481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809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ครัวปรุงอาหาร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68096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ลูกค้าดูสถานะเรียลไทม์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0424160" y="2788920"/>
            <a:ext cx="1188720" cy="118872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34" name="Image 4" descr="C:\Users\ncear\AppData\Local\Temp\claude\C--xampp-htdocs-664244102-restaurant-restaurant-restaurant\84b163e6-f8a2-4c79-86b6-e8584e2b90e4\scratchpad\pptx\icons\FaCashRegister_3E27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453" y="3074213"/>
            <a:ext cx="618134" cy="61813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128369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B30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128369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014984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ชำระเงินปิดบิล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014984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จ่ายที่เคาน์เตอร์เมื่อจบมื้อ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TAKEAWAY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การทำงานของระบบ — ลูกค้าสั่งกลับบ้าน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ไม่ต้องสแกน QR เข้าลิงก์เมนูได้โดยตรง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9222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7" name="Image 0" descr="C:\Users\ncear\AppData\Local\Temp\claude\C--xampp-htdocs-664244102-restaurant-restaurant-restaurant\84b163e6-f8a2-4c79-86b6-e8584e2b90e4\scratchpad\pptx\icons\FaLin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3074213"/>
            <a:ext cx="618134" cy="6181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0817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0817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เข้าลิงก์เมนูออนไลน์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7432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ไม่ต้องสแกน QR ที่โต๊ะ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6110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1752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4" name="Image 1" descr="C:\Users\ncear\AppData\Local\Temp\claude\C--xampp-htdocs-664244102-restaurant-restaurant-restaurant\84b163e6-f8a2-4c79-86b6-e8584e2b90e4\scratchpad\pptx\icons\FaUtensil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813" y="3074213"/>
            <a:ext cx="618134" cy="61813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7705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7705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4320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สั่งอาหาร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74320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กรอกชื่อ-เบอร์โทรติดต่อ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72998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48640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1" name="Image 2" descr="C:\Users\ncear\AppData\Local\Temp\claude\C--xampp-htdocs-664244102-restaurant-restaurant-restaurant\84b163e6-f8a2-4c79-86b6-e8584e2b90e4\scratchpad\pptx\icons\FaWall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93" y="3074213"/>
            <a:ext cx="618134" cy="61813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34593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4593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1208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เลือกวิธีชำระเงิน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21208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เงินสด / QR เคาน์เตอร์ / โอนเงิน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19886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795528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8" name="Image 3" descr="C:\Users\ncear\AppData\Local\Temp\claude\C--xampp-htdocs-664244102-restaurant-restaurant-restaurant\84b163e6-f8a2-4c79-86b6-e8584e2b90e4\scratchpad\pptx\icons\FaBell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3" y="3074213"/>
            <a:ext cx="618134" cy="61813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81481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81481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809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รอแจ้งเตือน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68096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ติดตามสถานะออเดอร์ของตัวเอง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0424160" y="2788920"/>
            <a:ext cx="1188720" cy="118872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34" name="Image 4" descr="C:\Users\ncear\AppData\Local\Temp\claude\C--xampp-htdocs-664244102-restaurant-restaurant-restaurant\84b163e6-f8a2-4c79-86b6-e8584e2b90e4\scratchpad\pptx\icons\FaShoppingBag_3E27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453" y="3074213"/>
            <a:ext cx="618134" cy="61813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128369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B30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128369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014984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มารับอาหาร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014984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ชำระเงิน (ถ้ายังไม่จ่าย) แล้วรับกลับ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OWNER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การทำงานของระบบ — เจ้าของร้าน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จัดการทุกขั้นตอนผ่านแดชบอร์ดเดียว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9222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7" name="Image 0" descr="C:\Users\ncear\AppData\Local\Temp\claude\C--xampp-htdocs-664244102-restaurant-restaurant-restaurant\84b163e6-f8a2-4c79-86b6-e8584e2b90e4\scratchpad\pptx\icons\FaBel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933" y="3074213"/>
            <a:ext cx="618134" cy="6181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0817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0817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รับแจ้งออเดอร์ใหม่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7432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แจ้งเตือนอัตโนมัติทุก 2 วิ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6110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01752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4" name="Image 1" descr="C:\Users\ncear\AppData\Local\Temp\claude\C--xampp-htdocs-664244102-restaurant-restaurant-restaurant\84b163e6-f8a2-4c79-86b6-e8584e2b90e4\scratchpad\pptx\icons\FaCheck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813" y="3074213"/>
            <a:ext cx="618134" cy="61813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7705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7705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4320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กดรับออเดอร์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274320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เข้าคิวครัว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72998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548640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1" name="Image 2" descr="C:\Users\ncear\AppData\Local\Temp\claude\C--xampp-htdocs-664244102-restaurant-restaurant-restaurant\84b163e6-f8a2-4c79-86b6-e8584e2b90e4\scratchpad\pptx\icons\FaFir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693" y="3074213"/>
            <a:ext cx="618134" cy="61813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34593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34593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21208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ปรุงอาหารเสร็จ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521208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อัปเดตสถานะให้ลูกค้าเห็น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9198864" y="3383280"/>
            <a:ext cx="1170432" cy="0"/>
          </a:xfrm>
          <a:prstGeom prst="line">
            <a:avLst/>
          </a:prstGeom>
          <a:noFill/>
          <a:ln w="31750">
            <a:solidFill>
              <a:srgbClr val="D7CCC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7955280" y="2788920"/>
            <a:ext cx="1188720" cy="118872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8" name="Image 3" descr="C:\Users\ncear\AppData\Local\Temp\claude\C--xampp-htdocs-664244102-restaurant-restaurant-restaurant\84b163e6-f8a2-4c79-86b6-e8584e2b90e4\scratchpad\pptx\icons\FaCashRegist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573" y="3074213"/>
            <a:ext cx="618134" cy="61813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81481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D403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81481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68096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อนุมัติการชำระเงิน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768096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ตรวจสลิป/รับเงินสด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10424160" y="2788920"/>
            <a:ext cx="1188720" cy="118872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34" name="Image 4" descr="C:\Users\ncear\AppData\Local\Temp\claude\C--xampp-htdocs-664244102-restaurant-restaurant-restaurant\84b163e6-f8a2-4c79-86b6-e8584e2b90e4\scratchpad\pptx\icons\FaChartLine_3E27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453" y="3074213"/>
            <a:ext cx="618134" cy="61813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1283696" y="2660904"/>
            <a:ext cx="45720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5B30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1283696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10149840" y="4160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ดูรายงานยอดขาย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10149840" y="4663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สรุปรายวัน + เมนูขายดี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มาตรการความปลอดภัยของระบบ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ออกแบบระบบให้ป้องกันช่องโหว่ที่พบได้บ่อยในเว็บแอปพลิเคชัน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58368" cy="658368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6" name="Image 0" descr="C:\Users\ncear\AppData\Local\Temp\claude\C--xampp-htdocs-664244102-restaurant-restaurant-restaurant\84b163e6-f8a2-4c79-86b6-e8584e2b90e4\scratchpad\pptx\icons\FaShieldAl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648" y="203252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4708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Protection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71600" y="21671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ทุกฟอร์ม/AJAX ที่แก้ไขข้อมูลต้องแนบ token ที่ตรวจสอบก่อนทำงานเสมอ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715768"/>
            <a:ext cx="658368" cy="658368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0" name="Image 1" descr="C:\Users\ncear\AppData\Local\Temp\claude\C--xampp-htdocs-664244102-restaurant-restaurant-restaurant\84b163e6-f8a2-4c79-86b6-e8584e2b90e4\scratchpad\pptx\icons\FaUser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2873776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68833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(กัน Brute-force)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71600" y="30083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จำกัดจำนวนครั้งล็อกอิน/OTP/รหัสร่วมโต๊ะที่ผิดภายใน 15 นาที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557016"/>
            <a:ext cx="658368" cy="658368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4" name="Image 2" descr="C:\Users\ncear\AppData\Local\Temp\claude\C--xampp-htdocs-664244102-restaurant-restaurant-restaurant\84b163e6-f8a2-4c79-86b6-e8584e2b90e4\scratchpad\pptx\icons\FaQrcod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3715024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52958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Token ต่อโต๊ะ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71600" y="38496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ฝังโทเค็นลับใน QR แต่ละโต๊ะ กันเดาเลขโต๊ะแล้วเข้าเมนู/บิลของโต๊ะอื่น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398264"/>
            <a:ext cx="658368" cy="658368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8" name="Image 3" descr="C:\Users\ncear\AppData\Local\Temp\claude\C--xampp-htdocs-664244102-restaurant-restaurant-restaurant\84b163e6-f8a2-4c79-86b6-e8584e2b90e4\scratchpad\pptx\icons\FaBoxe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4556272"/>
            <a:ext cx="342351" cy="3423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37083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+ Row Locking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71600" y="46908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ป้องกันสองออเดอร์แย่งตัดสต็อกพร้อมกัน (race condition)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5239512"/>
            <a:ext cx="658368" cy="658368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2" name="Image 4" descr="C:\Users\ncear\AppData\Local\Temp\claude\C--xampp-htdocs-664244102-restaurant-restaurant-restaurant\84b163e6-f8a2-4c79-86b6-e8584e2b90e4\scratchpad\pptx\icons\FaUserSecre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5397520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52120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IDOR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371600" y="55321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ผูกสิทธิ์ดูออเดอร์ด้วย session กันลูกค้าเดา order_id ของคนอื่น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BENEFITS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ผลที่ได้และประโยชน์ของระบบ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FEBE9"/>
          </a:solidFill>
          <a:ln/>
        </p:spPr>
      </p:sp>
      <p:sp>
        <p:nvSpPr>
          <p:cNvPr id="5" name="Shape 3"/>
          <p:cNvSpPr/>
          <p:nvPr/>
        </p:nvSpPr>
        <p:spPr>
          <a:xfrm>
            <a:off x="1531620" y="1828800"/>
            <a:ext cx="640080" cy="64008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6" name="Image 0" descr="C:\Users\ncear\AppData\Local\Temp\claude\C--xampp-htdocs-664244102-restaurant-restaurant-restaurant\84b163e6-f8a2-4c79-86b6-e8584e2b90e4\scratchpad\pptx\icons\FaLayerGrou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5239" y="19824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85800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ช่องทางสั่งอาหาร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ในระบบเดียว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55848" y="16002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FEBE9"/>
          </a:solidFill>
          <a:ln/>
        </p:spPr>
      </p:sp>
      <p:sp>
        <p:nvSpPr>
          <p:cNvPr id="10" name="Shape 7"/>
          <p:cNvSpPr/>
          <p:nvPr/>
        </p:nvSpPr>
        <p:spPr>
          <a:xfrm>
            <a:off x="4338828" y="1828800"/>
            <a:ext cx="640080" cy="64008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1" name="Image 1" descr="C:\Users\ncear\AppData\Local\Temp\claude\C--xampp-htdocs-664244102-restaurant-restaurant-restaurant\84b163e6-f8a2-4c79-86b6-e8584e2b90e4\scratchpad\pptx\icons\FaC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447" y="198241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93008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 วิ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3493008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ความถี่อัปเดต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สถานะออเดอร์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63056" y="16002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FEBE9"/>
          </a:solidFill>
          <a:ln/>
        </p:spPr>
      </p:sp>
      <p:sp>
        <p:nvSpPr>
          <p:cNvPr id="15" name="Shape 11"/>
          <p:cNvSpPr/>
          <p:nvPr/>
        </p:nvSpPr>
        <p:spPr>
          <a:xfrm>
            <a:off x="7146036" y="1828800"/>
            <a:ext cx="640080" cy="64008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16" name="Image 2" descr="C:\Users\ncear\AppData\Local\Temp\claude\C--xampp-htdocs-664244102-restaurant-restaurant-restaurant\84b163e6-f8a2-4c79-86b6-e8584e2b90e4\scratchpad\pptx\icons\Fa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655" y="198241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0216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6300216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ตารางฐานข้อมูล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รองรับการทำงาน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970264" y="1600200"/>
            <a:ext cx="2606040" cy="2468880"/>
          </a:xfrm>
          <a:prstGeom prst="roundRect">
            <a:avLst>
              <a:gd name="adj" fmla="val 4444"/>
            </a:avLst>
          </a:prstGeom>
          <a:solidFill>
            <a:srgbClr val="EFEBE9"/>
          </a:solidFill>
          <a:ln/>
        </p:spPr>
      </p:sp>
      <p:sp>
        <p:nvSpPr>
          <p:cNvPr id="20" name="Shape 15"/>
          <p:cNvSpPr/>
          <p:nvPr/>
        </p:nvSpPr>
        <p:spPr>
          <a:xfrm>
            <a:off x="9953244" y="1828800"/>
            <a:ext cx="640080" cy="640080"/>
          </a:xfrm>
          <a:prstGeom prst="ellipse">
            <a:avLst/>
          </a:prstGeom>
          <a:solidFill>
            <a:srgbClr val="5D4037"/>
          </a:solidFill>
          <a:ln/>
        </p:spPr>
      </p:sp>
      <p:pic>
        <p:nvPicPr>
          <p:cNvPr id="21" name="Image 3" descr="C:\Users\ncear\AppData\Local\Temp\claude\C--xampp-htdocs-664244102-restaurant-restaurant-restaurant\84b163e6-f8a2-4c79-86b6-e8584e2b90e4\scratchpad\pptx\icons\FaShieldAl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6863" y="198241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07424" y="25603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9107424" y="3200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มาตรการความปลอดภัย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ที่ฝังในระบบ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ประโยชน์หลัก:</a:t>
            </a:r>
            <a:endParaRPr lang="en-US" sz="1400" dirty="0"/>
          </a:p>
        </p:txBody>
      </p:sp>
      <p:pic>
        <p:nvPicPr>
          <p:cNvPr id="25" name="Image 4" descr="C:\Users\ncear\AppData\Local\Temp\claude\C--xampp-htdocs-664244102-restaurant-restaurant-restaurant\84b163e6-f8a2-4c79-86b6-e8584e2b90e4\scratchpad\pptx\icons\FaCheckCircle_5D4037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864608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68680" y="47731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ลดข้อผิดพลาดจากการจดออเดอร์ด้วยมือ</a:t>
            </a:r>
            <a:endParaRPr lang="en-US" sz="1250" dirty="0"/>
          </a:p>
        </p:txBody>
      </p:sp>
      <p:pic>
        <p:nvPicPr>
          <p:cNvPr id="27" name="Image 5" descr="C:\Users\ncear\AppData\Local\Temp\claude\C--xampp-htdocs-664244102-restaurant-restaurant-restaurant\84b163e6-f8a2-4c79-86b6-e8584e2b90e4\scratchpad\pptx\icons\FaCheckCircle_5D4037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248656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68680" y="515721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ลดเวลารอคิวและภาระงานพนักงาน</a:t>
            </a:r>
            <a:endParaRPr lang="en-US" sz="1250" dirty="0"/>
          </a:p>
        </p:txBody>
      </p:sp>
      <p:pic>
        <p:nvPicPr>
          <p:cNvPr id="29" name="Image 6" descr="C:\Users\ncear\AppData\Local\Temp\claude\C--xampp-htdocs-664244102-restaurant-restaurant-restaurant\84b163e6-f8a2-4c79-86b6-e8584e2b90e4\scratchpad\pptx\icons\FaCheckCircle_5D403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632704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868680" y="554126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เจ้าของร้านเห็นยอดขาย/สต็อกได้ทันที ไม่ต้องรอสรุปตอนปิดร้าน</a:t>
            </a:r>
            <a:endParaRPr lang="en-US" sz="1250" dirty="0"/>
          </a:p>
        </p:txBody>
      </p:sp>
      <p:sp>
        <p:nvSpPr>
          <p:cNvPr id="31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3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D40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ปัญหาที่พบระหว่างพัฒนาและแนวทางแก้ไข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29184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ปัญหาที่พบ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0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แนวทางแก้ไข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403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ต้องการอัปเดตสถานะออเดอร์แบบเรียลไทม์ แต่ไม่มี WebSocket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 JavaScript Polling (fetch ทุก 2–5 วินาที) แทน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ลูกค้าอาจเดาเลขโต๊ะแล้วเข้าเมนู/บิลของโต๊ะอื่น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ฝังโทเค็นลับ (QR Token) ไว้ใน QR Code ของแต่ละโต๊ะ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สองออเดอร์สั่งพร้อมกันอาจตัดสต็อกซ้อนกัน (Race Condition)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ใช้ Database Transaction ร่วมกับ Row Locking ระหว่างตัดสต็อก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คนแปลกหน้าอาจมาสั่งอาหารปนกับโต๊ะที่ทานอาหารร่วมกัน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E27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สุ่มรหัสร่วมโต๊ะ (PIN 4 หลัก) ให้กรอกยืนยันก่อนสั่งเพิ่ม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101600" marB="101600" anchor="ctr">
                    <a:lnL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C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และระบบจัดการหลังร้าน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5568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E2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5D4037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5D4037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94960" y="1188720"/>
            <a:ext cx="1371600" cy="1371600"/>
          </a:xfrm>
          <a:prstGeom prst="ellipse">
            <a:avLst/>
          </a:prstGeom>
          <a:solidFill>
            <a:srgbClr val="F5B301"/>
          </a:solidFill>
          <a:ln/>
        </p:spPr>
      </p:sp>
      <p:pic>
        <p:nvPicPr>
          <p:cNvPr id="5" name="Image 0" descr="C:\Users\ncear\AppData\Local\Temp\claude\C--xampp-htdocs-664244102-restaurant-restaurant-restaurant\84b163e6-f8a2-4c79-86b6-e8584e2b90e4\scratchpad\pptx\icons\FaFlagCheckered_3E27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53162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788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สรุปโครงงาน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28016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ระบบสั่งอาหารด้วย QR Code ช่วยให้ลูกค้าสั่งอาหารได้เอง ลดข้อผิดพลาดและเวลารอคิว</a:t>
            </a:r>
            <a:endParaRPr lang="en-US" sz="14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FEB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ขณะที่เจ้าของร้านบริหารจัดการออเดอร์ การชำระเงิน สต็อก และยอดขายได้ครบวงจรในที่เดียว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4709160"/>
            <a:ext cx="2286000" cy="0"/>
          </a:xfrm>
          <a:prstGeom prst="line">
            <a:avLst/>
          </a:prstGeom>
          <a:noFill/>
          <a:ln w="19050">
            <a:solidFill>
              <a:srgbClr val="F5B30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B30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ขอบคุณครับ / คำถาม?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Natthakorn Jehram   ·   664244102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2026-09-15T13:28:24Z</dcterms:created>
  <dcterms:modified xsi:type="dcterms:W3CDTF">2026-09-15T13:28:24Z</dcterms:modified>
</cp:coreProperties>
</file>